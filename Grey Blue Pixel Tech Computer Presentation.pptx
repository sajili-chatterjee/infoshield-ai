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ousine Bold" charset="1" panose="02070709020205020404"/>
      <p:regular r:id="rId17"/>
    </p:embeddedFont>
    <p:embeddedFont>
      <p:font typeface="Anonymous Pro Bold" charset="1" panose="02060809030202000504"/>
      <p:regular r:id="rId18"/>
    </p:embeddedFont>
    <p:embeddedFont>
      <p:font typeface="Cousine" charset="1" panose="020704090202050204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5.png" Type="http://schemas.openxmlformats.org/officeDocument/2006/relationships/image"/><Relationship Id="rId19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1.png" Type="http://schemas.openxmlformats.org/officeDocument/2006/relationships/image"/><Relationship Id="rId15" Target="../media/image2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5.png" Type="http://schemas.openxmlformats.org/officeDocument/2006/relationships/image"/><Relationship Id="rId19" Target="../media/image6.sv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media/image27.png" Type="http://schemas.openxmlformats.org/officeDocument/2006/relationships/image"/><Relationship Id="rId23" Target="../media/image28.sv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3.png" Type="http://schemas.openxmlformats.org/officeDocument/2006/relationships/image"/><Relationship Id="rId15" Target="../media/image4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33.jpeg" Type="http://schemas.openxmlformats.org/officeDocument/2006/relationships/image"/><Relationship Id="rId15" Target="../media/image34.jpeg" Type="http://schemas.openxmlformats.org/officeDocument/2006/relationships/image"/><Relationship Id="rId16" Target="../media/image35.jpeg" Type="http://schemas.openxmlformats.org/officeDocument/2006/relationships/image"/><Relationship Id="rId17" Target="../media/image36.jpe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jpeg" Type="http://schemas.openxmlformats.org/officeDocument/2006/relationships/image"/><Relationship Id="rId11" Target="../media/image42.jpeg" Type="http://schemas.openxmlformats.org/officeDocument/2006/relationships/image"/><Relationship Id="rId12" Target="https://1drv.ms/v/c/cae50a5df3a87e6f/IQDjtro7TcqfRIfx8VGkYsJLAdmYbEa3ph_8yfytMrEDmpA?e=Kgf5nG" TargetMode="External" Type="http://schemas.openxmlformats.org/officeDocument/2006/relationships/hyperlink"/><Relationship Id="rId13" Target="../media/image1.png" Type="http://schemas.openxmlformats.org/officeDocument/2006/relationships/image"/><Relationship Id="rId14" Target="../media/image2.svg" Type="http://schemas.openxmlformats.org/officeDocument/2006/relationships/image"/><Relationship Id="rId15" Target="../media/image3.png" Type="http://schemas.openxmlformats.org/officeDocument/2006/relationships/image"/><Relationship Id="rId16" Target="../media/image4.svg" Type="http://schemas.openxmlformats.org/officeDocument/2006/relationships/image"/><Relationship Id="rId17" Target="../media/image5.png" Type="http://schemas.openxmlformats.org/officeDocument/2006/relationships/image"/><Relationship Id="rId18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5.png" Type="http://schemas.openxmlformats.org/officeDocument/2006/relationships/image"/><Relationship Id="rId15" Target="../media/image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426" y="1739113"/>
            <a:ext cx="17617768" cy="8044926"/>
            <a:chOff x="0" y="0"/>
            <a:chExt cx="4640070" cy="2118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0071" cy="2118828"/>
            </a:xfrm>
            <a:custGeom>
              <a:avLst/>
              <a:gdLst/>
              <a:ahLst/>
              <a:cxnLst/>
              <a:rect r="r" b="b" t="t" l="l"/>
              <a:pathLst>
                <a:path h="2118828" w="4640071">
                  <a:moveTo>
                    <a:pt x="0" y="0"/>
                  </a:moveTo>
                  <a:lnTo>
                    <a:pt x="4640071" y="0"/>
                  </a:lnTo>
                  <a:lnTo>
                    <a:pt x="4640071" y="2118828"/>
                  </a:lnTo>
                  <a:lnTo>
                    <a:pt x="0" y="211882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40070" cy="2166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4586" y="296565"/>
            <a:ext cx="17587640" cy="1282427"/>
            <a:chOff x="0" y="0"/>
            <a:chExt cx="23450186" cy="170990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3450186" cy="880550"/>
              <a:chOff x="0" y="0"/>
              <a:chExt cx="4632136" cy="17393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632135" cy="173936"/>
              </a:xfrm>
              <a:custGeom>
                <a:avLst/>
                <a:gdLst/>
                <a:ahLst/>
                <a:cxnLst/>
                <a:rect r="r" b="b" t="t" l="l"/>
                <a:pathLst>
                  <a:path h="173936" w="4632135">
                    <a:moveTo>
                      <a:pt x="0" y="0"/>
                    </a:moveTo>
                    <a:lnTo>
                      <a:pt x="4632135" y="0"/>
                    </a:lnTo>
                    <a:lnTo>
                      <a:pt x="4632135" y="173936"/>
                    </a:lnTo>
                    <a:lnTo>
                      <a:pt x="0" y="173936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632136" cy="221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1045249"/>
              <a:ext cx="2061123" cy="664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5"/>
                </a:lnSpc>
              </a:pPr>
              <a:r>
                <a:rPr lang="en-US" sz="2968" spc="222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Title&gt;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22566006" y="59365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1585217" y="59365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3" y="0"/>
                  </a:lnTo>
                  <a:lnTo>
                    <a:pt x="727503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0618147" y="59365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5244" y="9457549"/>
            <a:ext cx="17470132" cy="652980"/>
            <a:chOff x="0" y="0"/>
            <a:chExt cx="4601187" cy="1719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73324" y="9457549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6686" y="9457549"/>
            <a:ext cx="755149" cy="652980"/>
            <a:chOff x="0" y="0"/>
            <a:chExt cx="198887" cy="171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39127" y="9457549"/>
            <a:ext cx="755149" cy="652980"/>
            <a:chOff x="0" y="0"/>
            <a:chExt cx="198887" cy="17197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7156614" y="9570331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4" y="0"/>
                </a:lnTo>
                <a:lnTo>
                  <a:pt x="320174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744174" y="9570331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3" y="0"/>
                </a:moveTo>
                <a:lnTo>
                  <a:pt x="0" y="0"/>
                </a:lnTo>
                <a:lnTo>
                  <a:pt x="0" y="427416"/>
                </a:lnTo>
                <a:lnTo>
                  <a:pt x="320173" y="427416"/>
                </a:lnTo>
                <a:lnTo>
                  <a:pt x="32017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18155" y="3991710"/>
            <a:ext cx="15051690" cy="201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2"/>
              </a:lnSpc>
            </a:pPr>
            <a:r>
              <a:rPr lang="en-US" b="true" sz="15122" spc="-514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INFOSHIELD-AI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823053" y="8153756"/>
            <a:ext cx="765682" cy="1303792"/>
          </a:xfrm>
          <a:custGeom>
            <a:avLst/>
            <a:gdLst/>
            <a:ahLst/>
            <a:cxnLst/>
            <a:rect r="r" b="b" t="t" l="l"/>
            <a:pathLst>
              <a:path h="1303792" w="765682">
                <a:moveTo>
                  <a:pt x="0" y="0"/>
                </a:moveTo>
                <a:lnTo>
                  <a:pt x="765682" y="0"/>
                </a:lnTo>
                <a:lnTo>
                  <a:pt x="765682" y="1303793"/>
                </a:lnTo>
                <a:lnTo>
                  <a:pt x="0" y="13037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082106" y="7535217"/>
            <a:ext cx="2123787" cy="586938"/>
          </a:xfrm>
          <a:custGeom>
            <a:avLst/>
            <a:gdLst/>
            <a:ahLst/>
            <a:cxnLst/>
            <a:rect r="r" b="b" t="t" l="l"/>
            <a:pathLst>
              <a:path h="586938" w="2123787">
                <a:moveTo>
                  <a:pt x="0" y="0"/>
                </a:moveTo>
                <a:lnTo>
                  <a:pt x="2123788" y="0"/>
                </a:lnTo>
                <a:lnTo>
                  <a:pt x="2123788" y="586938"/>
                </a:lnTo>
                <a:lnTo>
                  <a:pt x="0" y="5869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340900" y="2737695"/>
            <a:ext cx="9746415" cy="52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8"/>
              </a:lnSpc>
            </a:pP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Team Fast&amp;C</a:t>
            </a:r>
            <a:r>
              <a:rPr lang="en-US" sz="381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urious presents to you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8155" y="6533733"/>
            <a:ext cx="15051690" cy="49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b="true" sz="2830" spc="322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AGENTIC AI SYSTEM FOR REALTIME FAKE NEWS DETECTION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65317" y="390092"/>
            <a:ext cx="5234255" cy="547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A..X..I..O..R..A..’26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1705837"/>
            <a:ext cx="17470132" cy="8140699"/>
            <a:chOff x="0" y="0"/>
            <a:chExt cx="4601187" cy="21440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2144052"/>
            </a:xfrm>
            <a:custGeom>
              <a:avLst/>
              <a:gdLst/>
              <a:ahLst/>
              <a:cxnLst/>
              <a:rect r="r" b="b" t="t" l="l"/>
              <a:pathLst>
                <a:path h="2144052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2144052"/>
                  </a:lnTo>
                  <a:lnTo>
                    <a:pt x="0" y="214405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191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799" y="319156"/>
            <a:ext cx="17798282" cy="1251647"/>
            <a:chOff x="0" y="0"/>
            <a:chExt cx="23731042" cy="166886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135552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The-Problem&gt;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97736"/>
              <a:ext cx="2135552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Title&gt;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858714" y="3599025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69" y="0"/>
                </a:lnTo>
                <a:lnTo>
                  <a:pt x="5798369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36807" y="6800504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092743" y="3762832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4" y="0"/>
                </a:lnTo>
                <a:lnTo>
                  <a:pt x="1048894" y="1018382"/>
                </a:lnTo>
                <a:lnTo>
                  <a:pt x="0" y="1018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092743" y="4500623"/>
            <a:ext cx="5534722" cy="170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PROBLEM</a:t>
            </a:r>
          </a:p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STATEMENT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855916" y="4195823"/>
            <a:ext cx="8268001" cy="287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b="true" sz="25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Rapid spread of FAKE NEWS on social media </a:t>
            </a:r>
          </a:p>
          <a:p>
            <a:pPr algn="l" marL="558870" indent="-279435" lvl="1">
              <a:lnSpc>
                <a:spcPts val="3235"/>
              </a:lnSpc>
              <a:buFont typeface="Arial"/>
              <a:buChar char="•"/>
            </a:pPr>
            <a:r>
              <a:rPr lang="en-US" b="true" sz="25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Difficult to verify real time and unknown news.</a:t>
            </a:r>
          </a:p>
          <a:p>
            <a:pPr algn="l">
              <a:lnSpc>
                <a:spcPts val="3235"/>
              </a:lnSpc>
            </a:pPr>
            <a:r>
              <a:rPr lang="en-US" sz="25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Existing systems: static dataset,no explanation,not realtime </a:t>
            </a:r>
          </a:p>
          <a:p>
            <a:pPr algn="l">
              <a:lnSpc>
                <a:spcPts val="3235"/>
              </a:lnSpc>
            </a:pPr>
            <a:r>
              <a:rPr lang="en-US" sz="25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Need: Explainable real time ai system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889550" y="9193555"/>
            <a:ext cx="1271608" cy="652980"/>
            <a:chOff x="0" y="0"/>
            <a:chExt cx="334909" cy="171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80209" y="4198412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50"/>
                </a:lnTo>
                <a:lnTo>
                  <a:pt x="0" y="3088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83415" y="6934002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5"/>
                </a:lnTo>
                <a:lnTo>
                  <a:pt x="0" y="1090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218137" y="3925395"/>
            <a:ext cx="1048895" cy="1018382"/>
          </a:xfrm>
          <a:custGeom>
            <a:avLst/>
            <a:gdLst/>
            <a:ahLst/>
            <a:cxnLst/>
            <a:rect r="r" b="b" t="t" l="l"/>
            <a:pathLst>
              <a:path h="1018382" w="1048895">
                <a:moveTo>
                  <a:pt x="0" y="0"/>
                </a:moveTo>
                <a:lnTo>
                  <a:pt x="1048895" y="0"/>
                </a:lnTo>
                <a:lnTo>
                  <a:pt x="1048895" y="1018381"/>
                </a:lnTo>
                <a:lnTo>
                  <a:pt x="0" y="1018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412033" y="5372100"/>
            <a:ext cx="5534722" cy="901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7"/>
              </a:lnSpc>
            </a:pPr>
            <a:r>
              <a:rPr lang="en-US" b="true" sz="7420" spc="-25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12329" y="3316833"/>
            <a:ext cx="5393246" cy="4833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Inputs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Direct Text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News URLs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Social Media (Reddit/YouTube)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Screenshots (OCR)</a:t>
            </a:r>
          </a:p>
          <a:p>
            <a:pPr algn="l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System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Agent-based pipeline (automated)</a:t>
            </a:r>
          </a:p>
          <a:p>
            <a:pPr algn="l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Outputs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REAL / FAKE verdict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Confidence Score</a:t>
            </a:r>
          </a:p>
          <a:p>
            <a:pPr algn="l" marL="515691" indent="-257845" lvl="1">
              <a:lnSpc>
                <a:spcPts val="2985"/>
              </a:lnSpc>
              <a:buFont typeface="Arial"/>
              <a:buChar char="•"/>
            </a:pPr>
            <a:r>
              <a:rPr lang="en-US" b="true" sz="2388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Transparent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073148" y="9193555"/>
            <a:ext cx="1271608" cy="652980"/>
            <a:chOff x="0" y="0"/>
            <a:chExt cx="334909" cy="1719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44859" y="402877"/>
            <a:ext cx="17798282" cy="1251647"/>
            <a:chOff x="0" y="0"/>
            <a:chExt cx="23731042" cy="166886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892182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Solution&gt;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997736"/>
              <a:ext cx="6618643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Title&gt; The-Problem&gt;</a:t>
              </a:r>
            </a:p>
          </p:txBody>
        </p:sp>
        <p:sp>
          <p:nvSpPr>
            <p:cNvPr name="Freeform 30" id="30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405575" y="3068166"/>
            <a:ext cx="1100371" cy="1714458"/>
          </a:xfrm>
          <a:custGeom>
            <a:avLst/>
            <a:gdLst/>
            <a:ahLst/>
            <a:cxnLst/>
            <a:rect r="r" b="b" t="t" l="l"/>
            <a:pathLst>
              <a:path h="1714458" w="1100371">
                <a:moveTo>
                  <a:pt x="0" y="0"/>
                </a:moveTo>
                <a:lnTo>
                  <a:pt x="1100371" y="0"/>
                </a:lnTo>
                <a:lnTo>
                  <a:pt x="1100371" y="1714458"/>
                </a:lnTo>
                <a:lnTo>
                  <a:pt x="0" y="17144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51291" y="3021566"/>
            <a:ext cx="3665857" cy="1952902"/>
          </a:xfrm>
          <a:custGeom>
            <a:avLst/>
            <a:gdLst/>
            <a:ahLst/>
            <a:cxnLst/>
            <a:rect r="r" b="b" t="t" l="l"/>
            <a:pathLst>
              <a:path h="1952902" w="3665857">
                <a:moveTo>
                  <a:pt x="0" y="0"/>
                </a:moveTo>
                <a:lnTo>
                  <a:pt x="3665857" y="0"/>
                </a:lnTo>
                <a:lnTo>
                  <a:pt x="3665857" y="1952902"/>
                </a:lnTo>
                <a:lnTo>
                  <a:pt x="0" y="195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538489" y="9193555"/>
            <a:ext cx="1271608" cy="652980"/>
            <a:chOff x="0" y="0"/>
            <a:chExt cx="334909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401537" y="2733733"/>
            <a:ext cx="1959764" cy="1959764"/>
          </a:xfrm>
          <a:custGeom>
            <a:avLst/>
            <a:gdLst/>
            <a:ahLst/>
            <a:cxnLst/>
            <a:rect r="r" b="b" t="t" l="l"/>
            <a:pathLst>
              <a:path h="1959764" w="1959764">
                <a:moveTo>
                  <a:pt x="0" y="0"/>
                </a:moveTo>
                <a:lnTo>
                  <a:pt x="1959764" y="0"/>
                </a:lnTo>
                <a:lnTo>
                  <a:pt x="1959764" y="1959765"/>
                </a:lnTo>
                <a:lnTo>
                  <a:pt x="0" y="1959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9042" y="2705427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595644" y="3557958"/>
            <a:ext cx="2200907" cy="1264521"/>
          </a:xfrm>
          <a:custGeom>
            <a:avLst/>
            <a:gdLst/>
            <a:ahLst/>
            <a:cxnLst/>
            <a:rect r="r" b="b" t="t" l="l"/>
            <a:pathLst>
              <a:path h="1264521" w="2200907">
                <a:moveTo>
                  <a:pt x="0" y="0"/>
                </a:moveTo>
                <a:lnTo>
                  <a:pt x="2200907" y="0"/>
                </a:lnTo>
                <a:lnTo>
                  <a:pt x="2200907" y="1264521"/>
                </a:lnTo>
                <a:lnTo>
                  <a:pt x="0" y="12645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505846" y="5618188"/>
            <a:ext cx="2683175" cy="2683175"/>
          </a:xfrm>
          <a:custGeom>
            <a:avLst/>
            <a:gdLst/>
            <a:ahLst/>
            <a:cxnLst/>
            <a:rect r="r" b="b" t="t" l="l"/>
            <a:pathLst>
              <a:path h="2683175" w="2683175">
                <a:moveTo>
                  <a:pt x="0" y="0"/>
                </a:moveTo>
                <a:lnTo>
                  <a:pt x="2683174" y="0"/>
                </a:lnTo>
                <a:lnTo>
                  <a:pt x="2683174" y="2683175"/>
                </a:lnTo>
                <a:lnTo>
                  <a:pt x="0" y="268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465727" y="449120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977651" y="2733733"/>
            <a:ext cx="2528567" cy="2528567"/>
          </a:xfrm>
          <a:custGeom>
            <a:avLst/>
            <a:gdLst/>
            <a:ahLst/>
            <a:cxnLst/>
            <a:rect r="r" b="b" t="t" l="l"/>
            <a:pathLst>
              <a:path h="2528567" w="2528567">
                <a:moveTo>
                  <a:pt x="0" y="0"/>
                </a:moveTo>
                <a:lnTo>
                  <a:pt x="2528567" y="0"/>
                </a:lnTo>
                <a:lnTo>
                  <a:pt x="2528567" y="2528567"/>
                </a:lnTo>
                <a:lnTo>
                  <a:pt x="0" y="2528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417045" y="2733733"/>
            <a:ext cx="2528567" cy="2528567"/>
          </a:xfrm>
          <a:custGeom>
            <a:avLst/>
            <a:gdLst/>
            <a:ahLst/>
            <a:cxnLst/>
            <a:rect r="r" b="b" t="t" l="l"/>
            <a:pathLst>
              <a:path h="2528567" w="2528567">
                <a:moveTo>
                  <a:pt x="0" y="0"/>
                </a:moveTo>
                <a:lnTo>
                  <a:pt x="2528567" y="0"/>
                </a:lnTo>
                <a:lnTo>
                  <a:pt x="2528567" y="2528567"/>
                </a:lnTo>
                <a:lnTo>
                  <a:pt x="0" y="25285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258419" y="5608486"/>
            <a:ext cx="2683175" cy="2683175"/>
          </a:xfrm>
          <a:custGeom>
            <a:avLst/>
            <a:gdLst/>
            <a:ahLst/>
            <a:cxnLst/>
            <a:rect r="r" b="b" t="t" l="l"/>
            <a:pathLst>
              <a:path h="2683175" w="2683175">
                <a:moveTo>
                  <a:pt x="0" y="0"/>
                </a:moveTo>
                <a:lnTo>
                  <a:pt x="2683175" y="0"/>
                </a:lnTo>
                <a:lnTo>
                  <a:pt x="2683175" y="2683175"/>
                </a:lnTo>
                <a:lnTo>
                  <a:pt x="0" y="268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977589" y="5618188"/>
            <a:ext cx="2683175" cy="2683175"/>
          </a:xfrm>
          <a:custGeom>
            <a:avLst/>
            <a:gdLst/>
            <a:ahLst/>
            <a:cxnLst/>
            <a:rect r="r" b="b" t="t" l="l"/>
            <a:pathLst>
              <a:path h="2683175" w="2683175">
                <a:moveTo>
                  <a:pt x="0" y="0"/>
                </a:moveTo>
                <a:lnTo>
                  <a:pt x="2683175" y="0"/>
                </a:lnTo>
                <a:lnTo>
                  <a:pt x="2683175" y="2683175"/>
                </a:lnTo>
                <a:lnTo>
                  <a:pt x="0" y="268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244859" y="364166"/>
            <a:ext cx="17798282" cy="1251647"/>
            <a:chOff x="0" y="0"/>
            <a:chExt cx="23731042" cy="1668863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0265267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Workflow&gt;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997736"/>
              <a:ext cx="1307881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Title&gt; The-Problem&gt; Solution&gt;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4559243" y="5608486"/>
            <a:ext cx="2683175" cy="2683175"/>
          </a:xfrm>
          <a:custGeom>
            <a:avLst/>
            <a:gdLst/>
            <a:ahLst/>
            <a:cxnLst/>
            <a:rect r="r" b="b" t="t" l="l"/>
            <a:pathLst>
              <a:path h="2683175" w="2683175">
                <a:moveTo>
                  <a:pt x="0" y="0"/>
                </a:moveTo>
                <a:lnTo>
                  <a:pt x="2683175" y="0"/>
                </a:lnTo>
                <a:lnTo>
                  <a:pt x="2683175" y="2683175"/>
                </a:lnTo>
                <a:lnTo>
                  <a:pt x="0" y="2683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69700" y="5581931"/>
            <a:ext cx="2747004" cy="2747004"/>
          </a:xfrm>
          <a:custGeom>
            <a:avLst/>
            <a:gdLst/>
            <a:ahLst/>
            <a:cxnLst/>
            <a:rect r="r" b="b" t="t" l="l"/>
            <a:pathLst>
              <a:path h="2747004" w="2747004">
                <a:moveTo>
                  <a:pt x="0" y="0"/>
                </a:moveTo>
                <a:lnTo>
                  <a:pt x="2747004" y="0"/>
                </a:lnTo>
                <a:lnTo>
                  <a:pt x="2747004" y="2747004"/>
                </a:lnTo>
                <a:lnTo>
                  <a:pt x="0" y="2747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912113" y="3557958"/>
            <a:ext cx="949976" cy="692451"/>
            <a:chOff x="0" y="0"/>
            <a:chExt cx="812800" cy="5924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592462"/>
            </a:xfrm>
            <a:custGeom>
              <a:avLst/>
              <a:gdLst/>
              <a:ahLst/>
              <a:cxnLst/>
              <a:rect r="r" b="b" t="t" l="l"/>
              <a:pathLst>
                <a:path h="592462" w="812800">
                  <a:moveTo>
                    <a:pt x="812800" y="29623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89262"/>
                  </a:lnTo>
                  <a:lnTo>
                    <a:pt x="406400" y="389262"/>
                  </a:lnTo>
                  <a:lnTo>
                    <a:pt x="406400" y="592462"/>
                  </a:lnTo>
                  <a:lnTo>
                    <a:pt x="812800" y="29623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165100"/>
              <a:ext cx="711200" cy="224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256750" y="3307994"/>
            <a:ext cx="3970370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input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handler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3555870" y="3651791"/>
            <a:ext cx="949976" cy="692451"/>
            <a:chOff x="0" y="0"/>
            <a:chExt cx="812800" cy="59246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592462"/>
            </a:xfrm>
            <a:custGeom>
              <a:avLst/>
              <a:gdLst/>
              <a:ahLst/>
              <a:cxnLst/>
              <a:rect r="r" b="b" t="t" l="l"/>
              <a:pathLst>
                <a:path h="592462" w="812800">
                  <a:moveTo>
                    <a:pt x="812800" y="29623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89262"/>
                  </a:lnTo>
                  <a:lnTo>
                    <a:pt x="406400" y="389262"/>
                  </a:lnTo>
                  <a:lnTo>
                    <a:pt x="406400" y="592462"/>
                  </a:lnTo>
                  <a:lnTo>
                    <a:pt x="812800" y="296231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165100"/>
              <a:ext cx="711200" cy="224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458530" y="5143500"/>
            <a:ext cx="460993" cy="574446"/>
            <a:chOff x="0" y="0"/>
            <a:chExt cx="652272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2272" cy="812800"/>
            </a:xfrm>
            <a:custGeom>
              <a:avLst/>
              <a:gdLst/>
              <a:ahLst/>
              <a:cxnLst/>
              <a:rect r="r" b="b" t="t" l="l"/>
              <a:pathLst>
                <a:path h="812800" w="652272">
                  <a:moveTo>
                    <a:pt x="326136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449072" y="0"/>
                  </a:lnTo>
                  <a:lnTo>
                    <a:pt x="449072" y="406400"/>
                  </a:lnTo>
                  <a:lnTo>
                    <a:pt x="652272" y="406400"/>
                  </a:lnTo>
                  <a:lnTo>
                    <a:pt x="326136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203200" y="-38100"/>
              <a:ext cx="245872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941594" y="6634796"/>
            <a:ext cx="604432" cy="503359"/>
            <a:chOff x="0" y="0"/>
            <a:chExt cx="812800" cy="67688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676883"/>
            </a:xfrm>
            <a:custGeom>
              <a:avLst/>
              <a:gdLst/>
              <a:ahLst/>
              <a:cxnLst/>
              <a:rect r="r" b="b" t="t" l="l"/>
              <a:pathLst>
                <a:path h="676883" w="812800">
                  <a:moveTo>
                    <a:pt x="0" y="33844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473683"/>
                  </a:lnTo>
                  <a:lnTo>
                    <a:pt x="406400" y="473683"/>
                  </a:lnTo>
                  <a:lnTo>
                    <a:pt x="406400" y="676883"/>
                  </a:lnTo>
                  <a:lnTo>
                    <a:pt x="0" y="338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01600" y="165100"/>
              <a:ext cx="711200" cy="30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384861" y="3757983"/>
            <a:ext cx="5263340" cy="7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WORKFLOW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401537" y="3114632"/>
            <a:ext cx="1959764" cy="69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</a:pPr>
            <a:r>
              <a:rPr lang="en-US" sz="3989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input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16966" y="4549180"/>
            <a:ext cx="2292524" cy="479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9"/>
              </a:lnSpc>
            </a:pPr>
            <a:r>
              <a:rPr lang="en-US" sz="2735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text or url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546026" y="3336669"/>
            <a:ext cx="22860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claim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extraction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855994" y="6388099"/>
            <a:ext cx="2057876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evidence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retrieval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35589" y="6397801"/>
            <a:ext cx="2286476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bart-minli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classifier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103704" y="6397801"/>
            <a:ext cx="2515195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linguistic 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analyzer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137826" y="6131101"/>
            <a:ext cx="1600557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verdict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scoring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engine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05324" y="6131101"/>
            <a:ext cx="2286476" cy="159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Output API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+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Streamlit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675435" y="6708096"/>
            <a:ext cx="604432" cy="503359"/>
            <a:chOff x="0" y="0"/>
            <a:chExt cx="812800" cy="6768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676883"/>
            </a:xfrm>
            <a:custGeom>
              <a:avLst/>
              <a:gdLst/>
              <a:ahLst/>
              <a:cxnLst/>
              <a:rect r="r" b="b" t="t" l="l"/>
              <a:pathLst>
                <a:path h="676883" w="812800">
                  <a:moveTo>
                    <a:pt x="0" y="33844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473683"/>
                  </a:lnTo>
                  <a:lnTo>
                    <a:pt x="406400" y="473683"/>
                  </a:lnTo>
                  <a:lnTo>
                    <a:pt x="406400" y="676883"/>
                  </a:lnTo>
                  <a:lnTo>
                    <a:pt x="0" y="338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101600" y="165100"/>
              <a:ext cx="711200" cy="30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7373157" y="6698394"/>
            <a:ext cx="604432" cy="503359"/>
            <a:chOff x="0" y="0"/>
            <a:chExt cx="812800" cy="67688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676883"/>
            </a:xfrm>
            <a:custGeom>
              <a:avLst/>
              <a:gdLst/>
              <a:ahLst/>
              <a:cxnLst/>
              <a:rect r="r" b="b" t="t" l="l"/>
              <a:pathLst>
                <a:path h="676883" w="812800">
                  <a:moveTo>
                    <a:pt x="0" y="33844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473683"/>
                  </a:lnTo>
                  <a:lnTo>
                    <a:pt x="406400" y="473683"/>
                  </a:lnTo>
                  <a:lnTo>
                    <a:pt x="406400" y="676883"/>
                  </a:lnTo>
                  <a:lnTo>
                    <a:pt x="0" y="338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101600" y="165100"/>
              <a:ext cx="711200" cy="30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016704" y="6634796"/>
            <a:ext cx="604432" cy="503359"/>
            <a:chOff x="0" y="0"/>
            <a:chExt cx="812800" cy="67688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676883"/>
            </a:xfrm>
            <a:custGeom>
              <a:avLst/>
              <a:gdLst/>
              <a:ahLst/>
              <a:cxnLst/>
              <a:rect r="r" b="b" t="t" l="l"/>
              <a:pathLst>
                <a:path h="676883" w="812800">
                  <a:moveTo>
                    <a:pt x="0" y="33844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473683"/>
                  </a:lnTo>
                  <a:lnTo>
                    <a:pt x="406400" y="473683"/>
                  </a:lnTo>
                  <a:lnTo>
                    <a:pt x="406400" y="676883"/>
                  </a:lnTo>
                  <a:lnTo>
                    <a:pt x="0" y="3384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101600" y="165100"/>
              <a:ext cx="711200" cy="308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03496" y="3343236"/>
            <a:ext cx="5798369" cy="3088949"/>
          </a:xfrm>
          <a:custGeom>
            <a:avLst/>
            <a:gdLst/>
            <a:ahLst/>
            <a:cxnLst/>
            <a:rect r="r" b="b" t="t" l="l"/>
            <a:pathLst>
              <a:path h="3088949" w="5798369">
                <a:moveTo>
                  <a:pt x="0" y="0"/>
                </a:moveTo>
                <a:lnTo>
                  <a:pt x="5798370" y="0"/>
                </a:lnTo>
                <a:lnTo>
                  <a:pt x="5798370" y="3088949"/>
                </a:lnTo>
                <a:lnTo>
                  <a:pt x="0" y="3088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661786" y="9193555"/>
            <a:ext cx="1271608" cy="652980"/>
            <a:chOff x="0" y="0"/>
            <a:chExt cx="334909" cy="1719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900434" y="5099377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2" y="0"/>
                </a:lnTo>
                <a:lnTo>
                  <a:pt x="2986282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193736" y="3265263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281090" y="3343236"/>
            <a:ext cx="2986282" cy="2986282"/>
          </a:xfrm>
          <a:custGeom>
            <a:avLst/>
            <a:gdLst/>
            <a:ahLst/>
            <a:cxnLst/>
            <a:rect r="r" b="b" t="t" l="l"/>
            <a:pathLst>
              <a:path h="2986282" w="2986282">
                <a:moveTo>
                  <a:pt x="0" y="0"/>
                </a:moveTo>
                <a:lnTo>
                  <a:pt x="2986281" y="0"/>
                </a:lnTo>
                <a:lnTo>
                  <a:pt x="2986281" y="2986282"/>
                </a:lnTo>
                <a:lnTo>
                  <a:pt x="0" y="2986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133677" y="6015228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041237" y="4275304"/>
            <a:ext cx="1465987" cy="1122147"/>
          </a:xfrm>
          <a:custGeom>
            <a:avLst/>
            <a:gdLst/>
            <a:ahLst/>
            <a:cxnLst/>
            <a:rect r="r" b="b" t="t" l="l"/>
            <a:pathLst>
              <a:path h="1122147" w="1465987">
                <a:moveTo>
                  <a:pt x="0" y="0"/>
                </a:moveTo>
                <a:lnTo>
                  <a:pt x="1465987" y="0"/>
                </a:lnTo>
                <a:lnTo>
                  <a:pt x="1465987" y="1122146"/>
                </a:lnTo>
                <a:lnTo>
                  <a:pt x="0" y="11221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54168" y="320719"/>
            <a:ext cx="17798282" cy="1251647"/>
            <a:chOff x="0" y="0"/>
            <a:chExt cx="23731042" cy="166886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3644143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Tech-Stack&gt;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997736"/>
              <a:ext cx="1476502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Title&gt; The-Problem&gt; Solution&gt; Workflow&gt;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507704" y="5673935"/>
            <a:ext cx="2353718" cy="2864038"/>
          </a:xfrm>
          <a:custGeom>
            <a:avLst/>
            <a:gdLst/>
            <a:ahLst/>
            <a:cxnLst/>
            <a:rect r="r" b="b" t="t" l="l"/>
            <a:pathLst>
              <a:path h="2864038" w="2353718">
                <a:moveTo>
                  <a:pt x="0" y="0"/>
                </a:moveTo>
                <a:lnTo>
                  <a:pt x="2353718" y="0"/>
                </a:lnTo>
                <a:lnTo>
                  <a:pt x="2353718" y="2864038"/>
                </a:lnTo>
                <a:lnTo>
                  <a:pt x="0" y="28640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375785" y="5898460"/>
            <a:ext cx="2035580" cy="1706186"/>
          </a:xfrm>
          <a:custGeom>
            <a:avLst/>
            <a:gdLst/>
            <a:ahLst/>
            <a:cxnLst/>
            <a:rect r="r" b="b" t="t" l="l"/>
            <a:pathLst>
              <a:path h="1706186" w="2035580">
                <a:moveTo>
                  <a:pt x="0" y="0"/>
                </a:moveTo>
                <a:lnTo>
                  <a:pt x="2035580" y="0"/>
                </a:lnTo>
                <a:lnTo>
                  <a:pt x="2035580" y="1706186"/>
                </a:lnTo>
                <a:lnTo>
                  <a:pt x="0" y="170618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971011" y="4290677"/>
            <a:ext cx="5263340" cy="139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TECHNOLOGIES </a:t>
            </a:r>
          </a:p>
          <a:p>
            <a:pPr algn="ctr">
              <a:lnSpc>
                <a:spcPts val="5208"/>
              </a:lnSpc>
            </a:pPr>
            <a:r>
              <a:rPr lang="en-US" b="true" sz="6127" spc="-20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USED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03496" y="6742028"/>
            <a:ext cx="6942090" cy="213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Python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Flask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Streamlit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HuggingFace Transformers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BeautifulSoup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Newspaper3k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Tesseract OCR</a:t>
            </a:r>
          </a:p>
          <a:p>
            <a:pPr algn="l" marL="372808" indent="-186404" lvl="1">
              <a:lnSpc>
                <a:spcPts val="2158"/>
              </a:lnSpc>
              <a:buFont typeface="Arial"/>
              <a:buChar char="•"/>
            </a:pPr>
            <a:r>
              <a:rPr lang="en-US" b="true" sz="1726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NLTK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507224" y="9193555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466591" y="7639571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486400" y="3560757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5669013" y="4112093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VALUE PREPOSITION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4730363" y="2817415"/>
            <a:ext cx="1166694" cy="1132754"/>
          </a:xfrm>
          <a:custGeom>
            <a:avLst/>
            <a:gdLst/>
            <a:ahLst/>
            <a:cxnLst/>
            <a:rect r="r" b="b" t="t" l="l"/>
            <a:pathLst>
              <a:path h="1132754" w="1166694">
                <a:moveTo>
                  <a:pt x="0" y="0"/>
                </a:moveTo>
                <a:lnTo>
                  <a:pt x="1166694" y="0"/>
                </a:lnTo>
                <a:lnTo>
                  <a:pt x="1166694" y="1132753"/>
                </a:lnTo>
                <a:lnTo>
                  <a:pt x="0" y="11327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19617" y="3950168"/>
            <a:ext cx="1349653" cy="1349653"/>
          </a:xfrm>
          <a:custGeom>
            <a:avLst/>
            <a:gdLst/>
            <a:ahLst/>
            <a:cxnLst/>
            <a:rect r="r" b="b" t="t" l="l"/>
            <a:pathLst>
              <a:path h="1349653" w="1349653">
                <a:moveTo>
                  <a:pt x="0" y="0"/>
                </a:moveTo>
                <a:lnTo>
                  <a:pt x="1349654" y="0"/>
                </a:lnTo>
                <a:lnTo>
                  <a:pt x="1349654" y="1349654"/>
                </a:lnTo>
                <a:lnTo>
                  <a:pt x="0" y="1349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48794" y="5747497"/>
            <a:ext cx="6875211" cy="186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EXISTING SYSTEMS</a:t>
            </a: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* Use sentiment models (WRONG log</a:t>
            </a: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ic)</a:t>
            </a: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* No linguistic validation</a:t>
            </a: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* Weak evidence matching</a:t>
            </a:r>
          </a:p>
          <a:p>
            <a:pPr algn="just">
              <a:lnSpc>
                <a:spcPts val="2985"/>
              </a:lnSpc>
            </a:pPr>
            <a:r>
              <a:rPr lang="en-US" sz="2388">
                <a:solidFill>
                  <a:srgbClr val="000000"/>
                </a:solidFill>
                <a:latin typeface="Cousine"/>
                <a:ea typeface="Cousine"/>
                <a:cs typeface="Cousine"/>
                <a:sym typeface="Cousine"/>
              </a:rPr>
              <a:t>* No thresholds → noisy outputs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35218" y="5747497"/>
            <a:ext cx="6963702" cy="186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INFOSHIELD - AI</a:t>
            </a:r>
          </a:p>
          <a:p>
            <a:pPr algn="just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* BART-MNLI (true classification)</a:t>
            </a:r>
          </a:p>
          <a:p>
            <a:pPr algn="just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* 20+ l</a:t>
            </a: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inguistic heuristics</a:t>
            </a:r>
          </a:p>
          <a:p>
            <a:pPr algn="just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* IDF-weighted evidence retrieval</a:t>
            </a:r>
          </a:p>
          <a:p>
            <a:pPr algn="just">
              <a:lnSpc>
                <a:spcPts val="2985"/>
              </a:lnSpc>
            </a:pPr>
            <a:r>
              <a:rPr lang="en-US" sz="238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* Hard thresholds (robust decisions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44859" y="402877"/>
            <a:ext cx="17798282" cy="1251647"/>
            <a:chOff x="0" y="0"/>
            <a:chExt cx="23731042" cy="166886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7804140" y="997736"/>
              <a:ext cx="3979044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Uniqueness&gt;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997736"/>
              <a:ext cx="17863042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Title&gt; The-Problem&gt; Solution&gt; Workflow&gt; Tech-Stack&gt;</a:t>
              </a:r>
            </a:p>
          </p:txBody>
        </p:sp>
        <p:sp>
          <p:nvSpPr>
            <p:cNvPr name="Freeform 32" id="32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508196" y="9193555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47514" y="2884726"/>
            <a:ext cx="7315200" cy="1582743"/>
          </a:xfrm>
          <a:custGeom>
            <a:avLst/>
            <a:gdLst/>
            <a:ahLst/>
            <a:cxnLst/>
            <a:rect r="r" b="b" t="t" l="l"/>
            <a:pathLst>
              <a:path h="1582743" w="7315200">
                <a:moveTo>
                  <a:pt x="0" y="0"/>
                </a:moveTo>
                <a:lnTo>
                  <a:pt x="7315200" y="0"/>
                </a:lnTo>
                <a:lnTo>
                  <a:pt x="7315200" y="1582743"/>
                </a:lnTo>
                <a:lnTo>
                  <a:pt x="0" y="1582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1812739" y="3432736"/>
            <a:ext cx="6949975" cy="64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1"/>
              </a:lnSpc>
            </a:pPr>
            <a:r>
              <a:rPr lang="en-US" b="true" sz="5378" spc="-182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WORKING PROTOTYPE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28700" y="2686237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43630" y="337286"/>
            <a:ext cx="17798282" cy="1251647"/>
            <a:chOff x="0" y="0"/>
            <a:chExt cx="23731042" cy="166886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6466106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Demo&gt;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997736"/>
              <a:ext cx="164661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..&gt; Solution&gt; Workflow&gt; Tech-Stack&gt; Uniqueness&gt; </a:t>
              </a:r>
            </a:p>
          </p:txBody>
        </p:sp>
        <p:sp>
          <p:nvSpPr>
            <p:cNvPr name="Freeform 28" id="28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133362" y="2884726"/>
            <a:ext cx="7409580" cy="3349577"/>
          </a:xfrm>
          <a:custGeom>
            <a:avLst/>
            <a:gdLst/>
            <a:ahLst/>
            <a:cxnLst/>
            <a:rect r="r" b="b" t="t" l="l"/>
            <a:pathLst>
              <a:path h="3349577" w="7409580">
                <a:moveTo>
                  <a:pt x="0" y="0"/>
                </a:moveTo>
                <a:lnTo>
                  <a:pt x="7409579" y="0"/>
                </a:lnTo>
                <a:lnTo>
                  <a:pt x="7409579" y="3349577"/>
                </a:lnTo>
                <a:lnTo>
                  <a:pt x="0" y="33495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16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133362" y="5618484"/>
            <a:ext cx="7409580" cy="3575071"/>
          </a:xfrm>
          <a:custGeom>
            <a:avLst/>
            <a:gdLst/>
            <a:ahLst/>
            <a:cxnLst/>
            <a:rect r="r" b="b" t="t" l="l"/>
            <a:pathLst>
              <a:path h="3575071" w="7409580">
                <a:moveTo>
                  <a:pt x="0" y="0"/>
                </a:moveTo>
                <a:lnTo>
                  <a:pt x="7409579" y="0"/>
                </a:lnTo>
                <a:lnTo>
                  <a:pt x="7409579" y="3575071"/>
                </a:lnTo>
                <a:lnTo>
                  <a:pt x="0" y="35750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519" t="0" r="-6344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91770" y="4467469"/>
            <a:ext cx="7026687" cy="3069784"/>
          </a:xfrm>
          <a:custGeom>
            <a:avLst/>
            <a:gdLst/>
            <a:ahLst/>
            <a:cxnLst/>
            <a:rect r="r" b="b" t="t" l="l"/>
            <a:pathLst>
              <a:path h="3069784" w="7026687">
                <a:moveTo>
                  <a:pt x="0" y="0"/>
                </a:moveTo>
                <a:lnTo>
                  <a:pt x="7026687" y="0"/>
                </a:lnTo>
                <a:lnTo>
                  <a:pt x="7026687" y="3069784"/>
                </a:lnTo>
                <a:lnTo>
                  <a:pt x="0" y="306978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91770" y="6467511"/>
            <a:ext cx="7117633" cy="2726045"/>
          </a:xfrm>
          <a:custGeom>
            <a:avLst/>
            <a:gdLst/>
            <a:ahLst/>
            <a:cxnLst/>
            <a:rect r="r" b="b" t="t" l="l"/>
            <a:pathLst>
              <a:path h="2726045" w="7117633">
                <a:moveTo>
                  <a:pt x="0" y="0"/>
                </a:moveTo>
                <a:lnTo>
                  <a:pt x="7117633" y="0"/>
                </a:lnTo>
                <a:lnTo>
                  <a:pt x="7117633" y="2726044"/>
                </a:lnTo>
                <a:lnTo>
                  <a:pt x="0" y="272604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748" t="-959" r="0" b="-1445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318435" y="5473508"/>
            <a:ext cx="5050209" cy="1092682"/>
          </a:xfrm>
          <a:custGeom>
            <a:avLst/>
            <a:gdLst/>
            <a:ahLst/>
            <a:cxnLst/>
            <a:rect r="r" b="b" t="t" l="l"/>
            <a:pathLst>
              <a:path h="1092682" w="5050209">
                <a:moveTo>
                  <a:pt x="0" y="0"/>
                </a:moveTo>
                <a:lnTo>
                  <a:pt x="5050209" y="0"/>
                </a:lnTo>
                <a:lnTo>
                  <a:pt x="5050209" y="1092682"/>
                </a:lnTo>
                <a:lnTo>
                  <a:pt x="0" y="10926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7" id="37"/>
          <p:cNvSpPr txBox="true"/>
          <p:nvPr/>
        </p:nvSpPr>
        <p:spPr>
          <a:xfrm rot="0">
            <a:off x="6484155" y="5560719"/>
            <a:ext cx="4582320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TEXT ANALYSIS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0746198" y="6234303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4" y="0"/>
                </a:lnTo>
                <a:lnTo>
                  <a:pt x="640554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734433" y="9193555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08934" y="2389591"/>
            <a:ext cx="7682404" cy="3007347"/>
          </a:xfrm>
          <a:custGeom>
            <a:avLst/>
            <a:gdLst/>
            <a:ahLst/>
            <a:cxnLst/>
            <a:rect r="r" b="b" t="t" l="l"/>
            <a:pathLst>
              <a:path h="3007347" w="7682404">
                <a:moveTo>
                  <a:pt x="0" y="0"/>
                </a:moveTo>
                <a:lnTo>
                  <a:pt x="7682404" y="0"/>
                </a:lnTo>
                <a:lnTo>
                  <a:pt x="7682404" y="3007348"/>
                </a:lnTo>
                <a:lnTo>
                  <a:pt x="0" y="3007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449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08934" y="5109351"/>
            <a:ext cx="7682404" cy="4040805"/>
          </a:xfrm>
          <a:custGeom>
            <a:avLst/>
            <a:gdLst/>
            <a:ahLst/>
            <a:cxnLst/>
            <a:rect r="r" b="b" t="t" l="l"/>
            <a:pathLst>
              <a:path h="4040805" w="7682404">
                <a:moveTo>
                  <a:pt x="0" y="0"/>
                </a:moveTo>
                <a:lnTo>
                  <a:pt x="7682404" y="0"/>
                </a:lnTo>
                <a:lnTo>
                  <a:pt x="7682404" y="4040805"/>
                </a:lnTo>
                <a:lnTo>
                  <a:pt x="0" y="4040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25" t="0" r="-16585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425719" y="4924370"/>
            <a:ext cx="4160114" cy="1149704"/>
          </a:xfrm>
          <a:custGeom>
            <a:avLst/>
            <a:gdLst/>
            <a:ahLst/>
            <a:cxnLst/>
            <a:rect r="r" b="b" t="t" l="l"/>
            <a:pathLst>
              <a:path h="1149704" w="4160114">
                <a:moveTo>
                  <a:pt x="0" y="0"/>
                </a:moveTo>
                <a:lnTo>
                  <a:pt x="4160113" y="0"/>
                </a:lnTo>
                <a:lnTo>
                  <a:pt x="4160113" y="1149704"/>
                </a:lnTo>
                <a:lnTo>
                  <a:pt x="0" y="1149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6136192" y="5731315"/>
            <a:ext cx="525874" cy="895450"/>
          </a:xfrm>
          <a:custGeom>
            <a:avLst/>
            <a:gdLst/>
            <a:ahLst/>
            <a:cxnLst/>
            <a:rect r="r" b="b" t="t" l="l"/>
            <a:pathLst>
              <a:path h="895450" w="525874">
                <a:moveTo>
                  <a:pt x="0" y="0"/>
                </a:moveTo>
                <a:lnTo>
                  <a:pt x="525874" y="0"/>
                </a:lnTo>
                <a:lnTo>
                  <a:pt x="525874" y="895450"/>
                </a:lnTo>
                <a:lnTo>
                  <a:pt x="0" y="895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262567" y="2389591"/>
            <a:ext cx="9067696" cy="3847057"/>
          </a:xfrm>
          <a:custGeom>
            <a:avLst/>
            <a:gdLst/>
            <a:ahLst/>
            <a:cxnLst/>
            <a:rect r="r" b="b" t="t" l="l"/>
            <a:pathLst>
              <a:path h="3847057" w="9067696">
                <a:moveTo>
                  <a:pt x="0" y="0"/>
                </a:moveTo>
                <a:lnTo>
                  <a:pt x="9067695" y="0"/>
                </a:lnTo>
                <a:lnTo>
                  <a:pt x="9067695" y="3847057"/>
                </a:lnTo>
                <a:lnTo>
                  <a:pt x="0" y="3847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888" t="-3059" r="0" b="-305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62567" y="5396939"/>
            <a:ext cx="9120288" cy="3753217"/>
          </a:xfrm>
          <a:custGeom>
            <a:avLst/>
            <a:gdLst/>
            <a:ahLst/>
            <a:cxnLst/>
            <a:rect r="r" b="b" t="t" l="l"/>
            <a:pathLst>
              <a:path h="3753217" w="9120288">
                <a:moveTo>
                  <a:pt x="0" y="0"/>
                </a:moveTo>
                <a:lnTo>
                  <a:pt x="9120288" y="0"/>
                </a:lnTo>
                <a:lnTo>
                  <a:pt x="9120288" y="3753217"/>
                </a:lnTo>
                <a:lnTo>
                  <a:pt x="0" y="37532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915" r="0" b="-391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425719" y="5200454"/>
            <a:ext cx="416011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IMAGE ANALYSIS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654376" y="4924370"/>
            <a:ext cx="4160114" cy="1149704"/>
          </a:xfrm>
          <a:custGeom>
            <a:avLst/>
            <a:gdLst/>
            <a:ahLst/>
            <a:cxnLst/>
            <a:rect r="r" b="b" t="t" l="l"/>
            <a:pathLst>
              <a:path h="1149704" w="4160114">
                <a:moveTo>
                  <a:pt x="0" y="0"/>
                </a:moveTo>
                <a:lnTo>
                  <a:pt x="4160114" y="0"/>
                </a:lnTo>
                <a:lnTo>
                  <a:pt x="4160114" y="1149704"/>
                </a:lnTo>
                <a:lnTo>
                  <a:pt x="0" y="1149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5288617" y="5788923"/>
            <a:ext cx="525874" cy="895450"/>
          </a:xfrm>
          <a:custGeom>
            <a:avLst/>
            <a:gdLst/>
            <a:ahLst/>
            <a:cxnLst/>
            <a:rect r="r" b="b" t="t" l="l"/>
            <a:pathLst>
              <a:path h="895450" w="525874">
                <a:moveTo>
                  <a:pt x="0" y="0"/>
                </a:moveTo>
                <a:lnTo>
                  <a:pt x="525873" y="0"/>
                </a:lnTo>
                <a:lnTo>
                  <a:pt x="525873" y="895450"/>
                </a:lnTo>
                <a:lnTo>
                  <a:pt x="0" y="8954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647097" y="5200454"/>
            <a:ext cx="4160114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URL ANALYSIS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06796" y="212769"/>
            <a:ext cx="17798282" cy="1788943"/>
            <a:chOff x="0" y="0"/>
            <a:chExt cx="23731042" cy="238525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6466106" y="997736"/>
              <a:ext cx="6654406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Demo&gt;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997736"/>
              <a:ext cx="23545690" cy="1387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..&gt; Solution&gt; Workflow&gt; Tech-Stack&gt; Uniqueness&gt;</a:t>
              </a:r>
            </a:p>
            <a:p>
              <a:pPr algn="l">
                <a:lnSpc>
                  <a:spcPts val="4200"/>
                </a:lnSpc>
              </a:pPr>
              <a:r>
                <a:rPr lang="en-US" sz="3000" spc="225" u="sng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  <a:hlinkClick r:id="rId12" tooltip="https://1drv.ms/v/c/cae50a5df3a87e6f/IQDjtro7TcqfRIfx8VGkYsJLAdmYbEa3ph_8yfytMrEDmpA?e=Kgf5nG"/>
                </a:rPr>
                <a:t>Working of the Solution (video demo)</a:t>
              </a:r>
            </a:p>
          </p:txBody>
        </p:sp>
        <p:sp>
          <p:nvSpPr>
            <p:cNvPr name="Freeform 35" id="35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717813" y="9193555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630354" y="3912215"/>
            <a:ext cx="5027291" cy="2678175"/>
          </a:xfrm>
          <a:custGeom>
            <a:avLst/>
            <a:gdLst/>
            <a:ahLst/>
            <a:cxnLst/>
            <a:rect r="r" b="b" t="t" l="l"/>
            <a:pathLst>
              <a:path h="2678175" w="5027291">
                <a:moveTo>
                  <a:pt x="0" y="0"/>
                </a:moveTo>
                <a:lnTo>
                  <a:pt x="5027292" y="0"/>
                </a:lnTo>
                <a:lnTo>
                  <a:pt x="5027292" y="2678175"/>
                </a:lnTo>
                <a:lnTo>
                  <a:pt x="0" y="267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97829" y="4426915"/>
            <a:ext cx="4626079" cy="203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b="true" sz="4667" spc="-15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LIMITATIONS</a:t>
            </a:r>
          </a:p>
          <a:p>
            <a:pPr algn="ctr">
              <a:lnSpc>
                <a:spcPts val="3967"/>
              </a:lnSpc>
            </a:pPr>
            <a:r>
              <a:rPr lang="en-US" b="true" sz="4667" spc="-15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AND</a:t>
            </a:r>
          </a:p>
          <a:p>
            <a:pPr algn="ctr">
              <a:lnSpc>
                <a:spcPts val="3967"/>
              </a:lnSpc>
            </a:pPr>
            <a:r>
              <a:rPr lang="en-US" b="true" sz="4667" spc="-15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FUTURE</a:t>
            </a:r>
          </a:p>
          <a:p>
            <a:pPr algn="ctr">
              <a:lnSpc>
                <a:spcPts val="3967"/>
              </a:lnSpc>
            </a:pPr>
            <a:r>
              <a:rPr lang="en-US" b="true" sz="4667" spc="-158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SCOPE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136192" y="3627644"/>
            <a:ext cx="1019520" cy="989861"/>
          </a:xfrm>
          <a:custGeom>
            <a:avLst/>
            <a:gdLst/>
            <a:ahLst/>
            <a:cxnLst/>
            <a:rect r="r" b="b" t="t" l="l"/>
            <a:pathLst>
              <a:path h="989861" w="1019520">
                <a:moveTo>
                  <a:pt x="0" y="0"/>
                </a:moveTo>
                <a:lnTo>
                  <a:pt x="1019520" y="0"/>
                </a:lnTo>
                <a:lnTo>
                  <a:pt x="1019520" y="989861"/>
                </a:lnTo>
                <a:lnTo>
                  <a:pt x="0" y="9898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64092" y="6847565"/>
            <a:ext cx="4759816" cy="891384"/>
          </a:xfrm>
          <a:custGeom>
            <a:avLst/>
            <a:gdLst/>
            <a:ahLst/>
            <a:cxnLst/>
            <a:rect r="r" b="b" t="t" l="l"/>
            <a:pathLst>
              <a:path h="891384" w="4759816">
                <a:moveTo>
                  <a:pt x="0" y="0"/>
                </a:moveTo>
                <a:lnTo>
                  <a:pt x="4759816" y="0"/>
                </a:lnTo>
                <a:lnTo>
                  <a:pt x="4759816" y="891384"/>
                </a:lnTo>
                <a:lnTo>
                  <a:pt x="0" y="891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01289" y="4895693"/>
            <a:ext cx="3897898" cy="14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1027" indent="-205514" lvl="1">
              <a:lnSpc>
                <a:spcPts val="2379"/>
              </a:lnSpc>
              <a:buFont typeface="Arial"/>
              <a:buChar char="•"/>
            </a:pPr>
            <a:r>
              <a:rPr lang="en-US" b="true" sz="1903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Not fully trained on fake news dataset</a:t>
            </a:r>
          </a:p>
          <a:p>
            <a:pPr algn="l" marL="411027" indent="-205514" lvl="1">
              <a:lnSpc>
                <a:spcPts val="2379"/>
              </a:lnSpc>
              <a:buFont typeface="Arial"/>
              <a:buChar char="•"/>
            </a:pPr>
            <a:r>
              <a:rPr lang="en-US" b="true" sz="1903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Depends on available evidence</a:t>
            </a:r>
          </a:p>
          <a:p>
            <a:pPr algn="l" marL="411027" indent="-205514" lvl="1">
              <a:lnSpc>
                <a:spcPts val="2379"/>
              </a:lnSpc>
              <a:buFont typeface="Arial"/>
              <a:buChar char="•"/>
            </a:pPr>
            <a:r>
              <a:rPr lang="en-US" b="true" sz="1903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Social media API limits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1096" y="4840965"/>
            <a:ext cx="406313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Fine-tuned ML model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Database integration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Mobile app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Deployment (cloud)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b="true" sz="1999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Browser extension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1289" y="4053986"/>
            <a:ext cx="3457694" cy="704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4"/>
              </a:lnSpc>
            </a:pPr>
            <a:r>
              <a:rPr lang="en-US" sz="4124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LIMITATIONS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91096" y="4027325"/>
            <a:ext cx="3841194" cy="73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FUTURE SCOPE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44859" y="325522"/>
            <a:ext cx="17798282" cy="1251647"/>
            <a:chOff x="0" y="0"/>
            <a:chExt cx="23731042" cy="166886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8637467" y="997736"/>
              <a:ext cx="3663218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Next-Step&gt;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997736"/>
              <a:ext cx="19599731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..&gt; Solution&gt; Workflow&gt; Tech-Stack&gt; Uniqueness&gt; Demo&gt;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021842" y="9193555"/>
            <a:ext cx="1271608" cy="652980"/>
            <a:chOff x="0" y="0"/>
            <a:chExt cx="334909" cy="1719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120758" y="6106901"/>
            <a:ext cx="8046484" cy="1740967"/>
          </a:xfrm>
          <a:custGeom>
            <a:avLst/>
            <a:gdLst/>
            <a:ahLst/>
            <a:cxnLst/>
            <a:rect r="r" b="b" t="t" l="l"/>
            <a:pathLst>
              <a:path h="1740967" w="8046484">
                <a:moveTo>
                  <a:pt x="0" y="0"/>
                </a:moveTo>
                <a:lnTo>
                  <a:pt x="8046484" y="0"/>
                </a:lnTo>
                <a:lnTo>
                  <a:pt x="8046484" y="1740967"/>
                </a:lnTo>
                <a:lnTo>
                  <a:pt x="0" y="17409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5268827" y="6712557"/>
            <a:ext cx="7750347" cy="71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b="true" sz="5916" spc="-201">
                <a:solidFill>
                  <a:srgbClr val="00000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CONCLUSION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595051" y="5888569"/>
            <a:ext cx="1121439" cy="1088815"/>
          </a:xfrm>
          <a:custGeom>
            <a:avLst/>
            <a:gdLst/>
            <a:ahLst/>
            <a:cxnLst/>
            <a:rect r="r" b="b" t="t" l="l"/>
            <a:pathLst>
              <a:path h="1088815" w="1121439">
                <a:moveTo>
                  <a:pt x="0" y="0"/>
                </a:moveTo>
                <a:lnTo>
                  <a:pt x="1121439" y="0"/>
                </a:lnTo>
                <a:lnTo>
                  <a:pt x="1121439" y="1088815"/>
                </a:lnTo>
                <a:lnTo>
                  <a:pt x="0" y="108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526689" y="7302505"/>
            <a:ext cx="640554" cy="1090726"/>
          </a:xfrm>
          <a:custGeom>
            <a:avLst/>
            <a:gdLst/>
            <a:ahLst/>
            <a:cxnLst/>
            <a:rect r="r" b="b" t="t" l="l"/>
            <a:pathLst>
              <a:path h="1090726" w="640554">
                <a:moveTo>
                  <a:pt x="0" y="0"/>
                </a:moveTo>
                <a:lnTo>
                  <a:pt x="640553" y="0"/>
                </a:lnTo>
                <a:lnTo>
                  <a:pt x="640553" y="1090726"/>
                </a:lnTo>
                <a:lnTo>
                  <a:pt x="0" y="1090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305194" y="3870372"/>
            <a:ext cx="7677612" cy="103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253" indent="-236126" lvl="1">
              <a:lnSpc>
                <a:spcPts val="2734"/>
              </a:lnSpc>
              <a:buFont typeface="Arial"/>
              <a:buChar char="•"/>
            </a:pPr>
            <a:r>
              <a:rPr lang="en-US" b="true" sz="218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Multi modal fake news detection system</a:t>
            </a:r>
          </a:p>
          <a:p>
            <a:pPr algn="l" marL="472253" indent="-236126" lvl="1">
              <a:lnSpc>
                <a:spcPts val="2734"/>
              </a:lnSpc>
              <a:buFont typeface="Arial"/>
              <a:buChar char="•"/>
            </a:pPr>
            <a:r>
              <a:rPr lang="en-US" b="true" sz="218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Combines AI + real-time verification</a:t>
            </a:r>
          </a:p>
          <a:p>
            <a:pPr algn="l" marL="472253" indent="-236126" lvl="1">
              <a:lnSpc>
                <a:spcPts val="2734"/>
              </a:lnSpc>
              <a:buFont typeface="Arial"/>
              <a:buChar char="•"/>
            </a:pPr>
            <a:r>
              <a:rPr lang="en-US" b="true" sz="2187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Provides explainable ai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4087" y="644177"/>
            <a:ext cx="5115100" cy="5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Timmerman Industries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44859" y="325522"/>
            <a:ext cx="17798282" cy="1251647"/>
            <a:chOff x="0" y="0"/>
            <a:chExt cx="23731042" cy="166886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637467" y="997736"/>
              <a:ext cx="4026970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Conclusion&gt;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997736"/>
              <a:ext cx="19599731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..&gt; Workflow&gt; Tech-Stack&gt; Uniqueness&gt; Demo&gt; Next-Step&gt;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CA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8934" y="2301613"/>
            <a:ext cx="17470132" cy="7544923"/>
            <a:chOff x="0" y="0"/>
            <a:chExt cx="4601187" cy="1987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1187" cy="1987140"/>
            </a:xfrm>
            <a:custGeom>
              <a:avLst/>
              <a:gdLst/>
              <a:ahLst/>
              <a:cxnLst/>
              <a:rect r="r" b="b" t="t" l="l"/>
              <a:pathLst>
                <a:path h="1987140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987140"/>
                  </a:lnTo>
                  <a:lnTo>
                    <a:pt x="0" y="19871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01187" cy="2034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70751" y="7348259"/>
            <a:ext cx="3769202" cy="815518"/>
          </a:xfrm>
          <a:custGeom>
            <a:avLst/>
            <a:gdLst/>
            <a:ahLst/>
            <a:cxnLst/>
            <a:rect r="r" b="b" t="t" l="l"/>
            <a:pathLst>
              <a:path h="815518" w="3769202">
                <a:moveTo>
                  <a:pt x="0" y="0"/>
                </a:moveTo>
                <a:lnTo>
                  <a:pt x="3769202" y="0"/>
                </a:lnTo>
                <a:lnTo>
                  <a:pt x="3769202" y="815518"/>
                </a:lnTo>
                <a:lnTo>
                  <a:pt x="0" y="81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408934" y="9193555"/>
            <a:ext cx="17470132" cy="652980"/>
            <a:chOff x="0" y="0"/>
            <a:chExt cx="4601187" cy="1719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1187" cy="171978"/>
            </a:xfrm>
            <a:custGeom>
              <a:avLst/>
              <a:gdLst/>
              <a:ahLst/>
              <a:cxnLst/>
              <a:rect r="r" b="b" t="t" l="l"/>
              <a:pathLst>
                <a:path h="171978" w="4601187">
                  <a:moveTo>
                    <a:pt x="0" y="0"/>
                  </a:moveTo>
                  <a:lnTo>
                    <a:pt x="4601187" y="0"/>
                  </a:lnTo>
                  <a:lnTo>
                    <a:pt x="46011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011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886058" y="9193555"/>
            <a:ext cx="1271608" cy="652980"/>
            <a:chOff x="0" y="0"/>
            <a:chExt cx="334909" cy="171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4909" cy="171978"/>
            </a:xfrm>
            <a:custGeom>
              <a:avLst/>
              <a:gdLst/>
              <a:ahLst/>
              <a:cxnLst/>
              <a:rect r="r" b="b" t="t" l="l"/>
              <a:pathLst>
                <a:path h="171978" w="334909">
                  <a:moveTo>
                    <a:pt x="0" y="0"/>
                  </a:moveTo>
                  <a:lnTo>
                    <a:pt x="334909" y="0"/>
                  </a:lnTo>
                  <a:lnTo>
                    <a:pt x="334909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99999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34909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08934" y="9193555"/>
            <a:ext cx="755149" cy="652980"/>
            <a:chOff x="0" y="0"/>
            <a:chExt cx="198887" cy="1719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123917" y="9193555"/>
            <a:ext cx="755149" cy="652980"/>
            <a:chOff x="0" y="0"/>
            <a:chExt cx="198887" cy="171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887" cy="171978"/>
            </a:xfrm>
            <a:custGeom>
              <a:avLst/>
              <a:gdLst/>
              <a:ahLst/>
              <a:cxnLst/>
              <a:rect r="r" b="b" t="t" l="l"/>
              <a:pathLst>
                <a:path h="171978" w="198887">
                  <a:moveTo>
                    <a:pt x="0" y="0"/>
                  </a:moveTo>
                  <a:lnTo>
                    <a:pt x="198887" y="0"/>
                  </a:lnTo>
                  <a:lnTo>
                    <a:pt x="198887" y="171978"/>
                  </a:lnTo>
                  <a:lnTo>
                    <a:pt x="0" y="171978"/>
                  </a:lnTo>
                  <a:close/>
                </a:path>
              </a:pathLst>
            </a:custGeom>
            <a:solidFill>
              <a:srgbClr val="C0C0C0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8887" cy="210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382855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0" y="0"/>
                </a:moveTo>
                <a:lnTo>
                  <a:pt x="320173" y="0"/>
                </a:lnTo>
                <a:lnTo>
                  <a:pt x="320173" y="427416"/>
                </a:lnTo>
                <a:lnTo>
                  <a:pt x="0" y="427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584087" y="9306337"/>
            <a:ext cx="320173" cy="427416"/>
          </a:xfrm>
          <a:custGeom>
            <a:avLst/>
            <a:gdLst/>
            <a:ahLst/>
            <a:cxnLst/>
            <a:rect r="r" b="b" t="t" l="l"/>
            <a:pathLst>
              <a:path h="427416" w="320173">
                <a:moveTo>
                  <a:pt x="320174" y="0"/>
                </a:moveTo>
                <a:lnTo>
                  <a:pt x="0" y="0"/>
                </a:lnTo>
                <a:lnTo>
                  <a:pt x="0" y="427416"/>
                </a:lnTo>
                <a:lnTo>
                  <a:pt x="320174" y="427416"/>
                </a:lnTo>
                <a:lnTo>
                  <a:pt x="3201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80010" y="7401473"/>
            <a:ext cx="3523254" cy="762304"/>
          </a:xfrm>
          <a:custGeom>
            <a:avLst/>
            <a:gdLst/>
            <a:ahLst/>
            <a:cxnLst/>
            <a:rect r="r" b="b" t="t" l="l"/>
            <a:pathLst>
              <a:path h="762304" w="3523254">
                <a:moveTo>
                  <a:pt x="0" y="0"/>
                </a:moveTo>
                <a:lnTo>
                  <a:pt x="3523255" y="0"/>
                </a:lnTo>
                <a:lnTo>
                  <a:pt x="3523255" y="762304"/>
                </a:lnTo>
                <a:lnTo>
                  <a:pt x="0" y="762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4038281" y="4355625"/>
            <a:ext cx="10211437" cy="179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13499" spc="-458">
                <a:solidFill>
                  <a:srgbClr val="0057CC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THANK YOU!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087" y="644177"/>
            <a:ext cx="11150889" cy="54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b="true">
                <a:solidFill>
                  <a:srgbClr val="CACACA"/>
                </a:solidFill>
                <a:latin typeface="Cousine Bold"/>
                <a:ea typeface="Cousine Bold"/>
                <a:cs typeface="Cousine Bold"/>
                <a:sym typeface="Cousine Bold"/>
              </a:rPr>
              <a:t>This demonstration was presented by ...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4751" y="7557628"/>
            <a:ext cx="2751025" cy="439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7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Team Members: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052407" y="7348259"/>
            <a:ext cx="3769202" cy="815518"/>
          </a:xfrm>
          <a:custGeom>
            <a:avLst/>
            <a:gdLst/>
            <a:ahLst/>
            <a:cxnLst/>
            <a:rect r="r" b="b" t="t" l="l"/>
            <a:pathLst>
              <a:path h="815518" w="3769202">
                <a:moveTo>
                  <a:pt x="0" y="0"/>
                </a:moveTo>
                <a:lnTo>
                  <a:pt x="3769202" y="0"/>
                </a:lnTo>
                <a:lnTo>
                  <a:pt x="3769202" y="815518"/>
                </a:lnTo>
                <a:lnTo>
                  <a:pt x="0" y="815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5" id="25"/>
          <p:cNvSpPr txBox="true"/>
          <p:nvPr/>
        </p:nvSpPr>
        <p:spPr>
          <a:xfrm rot="0">
            <a:off x="7187597" y="7612873"/>
            <a:ext cx="3498821" cy="38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</a:pPr>
            <a:r>
              <a:rPr lang="en-US" sz="24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Sajili Chatterjee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43433" y="7544948"/>
            <a:ext cx="3023839" cy="40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0"/>
              </a:lnSpc>
            </a:pPr>
            <a:r>
              <a:rPr lang="en-US" sz="2528" b="true">
                <a:solidFill>
                  <a:srgbClr val="000000"/>
                </a:solidFill>
                <a:latin typeface="Cousine Bold"/>
                <a:ea typeface="Cousine Bold"/>
                <a:cs typeface="Cousine Bold"/>
                <a:sym typeface="Cousine Bold"/>
              </a:rPr>
              <a:t>Ayisharya Mitra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563497" y="4529207"/>
            <a:ext cx="523211" cy="890917"/>
          </a:xfrm>
          <a:custGeom>
            <a:avLst/>
            <a:gdLst/>
            <a:ahLst/>
            <a:cxnLst/>
            <a:rect r="r" b="b" t="t" l="l"/>
            <a:pathLst>
              <a:path h="890917" w="523211">
                <a:moveTo>
                  <a:pt x="0" y="0"/>
                </a:moveTo>
                <a:lnTo>
                  <a:pt x="523212" y="0"/>
                </a:lnTo>
                <a:lnTo>
                  <a:pt x="523212" y="890917"/>
                </a:lnTo>
                <a:lnTo>
                  <a:pt x="0" y="890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44859" y="402877"/>
            <a:ext cx="17798282" cy="1251647"/>
            <a:chOff x="0" y="0"/>
            <a:chExt cx="23731042" cy="166886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3731042" cy="890452"/>
              <a:chOff x="0" y="0"/>
              <a:chExt cx="4637408" cy="17400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637408" cy="174008"/>
              </a:xfrm>
              <a:custGeom>
                <a:avLst/>
                <a:gdLst/>
                <a:ahLst/>
                <a:cxnLst/>
                <a:rect r="r" b="b" t="t" l="l"/>
                <a:pathLst>
                  <a:path h="174008" w="4637408">
                    <a:moveTo>
                      <a:pt x="0" y="0"/>
                    </a:moveTo>
                    <a:lnTo>
                      <a:pt x="4637408" y="0"/>
                    </a:lnTo>
                    <a:lnTo>
                      <a:pt x="4637408" y="174008"/>
                    </a:lnTo>
                    <a:lnTo>
                      <a:pt x="0" y="174008"/>
                    </a:lnTo>
                    <a:close/>
                  </a:path>
                </a:pathLst>
              </a:custGeom>
              <a:solidFill>
                <a:srgbClr val="0057CC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4637408" cy="2216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8637467" y="997736"/>
              <a:ext cx="4026970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 b="true">
                  <a:solidFill>
                    <a:srgbClr val="000000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Conclusion&gt;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997736"/>
              <a:ext cx="19599731" cy="6711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spc="225">
                  <a:solidFill>
                    <a:srgbClr val="000000"/>
                  </a:solidFill>
                  <a:latin typeface="Cousine"/>
                  <a:ea typeface="Cousine"/>
                  <a:cs typeface="Cousine"/>
                  <a:sym typeface="Cousine"/>
                </a:rPr>
                <a:t>..&gt; Workflow&gt; Tech-Stack&gt; Uniqueness&gt; Demo&gt; Next-Step&gt;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22818186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1936933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1055680" y="66549"/>
              <a:ext cx="727504" cy="727504"/>
            </a:xfrm>
            <a:custGeom>
              <a:avLst/>
              <a:gdLst/>
              <a:ahLst/>
              <a:cxnLst/>
              <a:rect r="r" b="b" t="t" l="l"/>
              <a:pathLst>
                <a:path h="727504" w="727504">
                  <a:moveTo>
                    <a:pt x="0" y="0"/>
                  </a:moveTo>
                  <a:lnTo>
                    <a:pt x="727504" y="0"/>
                  </a:lnTo>
                  <a:lnTo>
                    <a:pt x="727504" y="727504"/>
                  </a:lnTo>
                  <a:lnTo>
                    <a:pt x="0" y="727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52180" y="42952"/>
              <a:ext cx="13757612" cy="708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62"/>
                </a:lnSpc>
              </a:pPr>
              <a:r>
                <a:rPr lang="en-US" sz="3187" b="true">
                  <a:solidFill>
                    <a:srgbClr val="CACACA"/>
                  </a:solidFill>
                  <a:latin typeface="Cousine Bold"/>
                  <a:ea typeface="Cousine Bold"/>
                  <a:cs typeface="Cousine Bold"/>
                  <a:sym typeface="Cousine Bold"/>
                </a:rPr>
                <a:t>Team: Fast&amp;Curious presents InfoShield-AI</a:t>
              </a:r>
            </a:p>
          </p:txBody>
        </p:sp>
      </p:grp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DAHESHOVXmI</dc:identifier>
  <dcterms:modified xsi:type="dcterms:W3CDTF">2011-08-01T06:04:30Z</dcterms:modified>
  <cp:revision>1</cp:revision>
  <dc:title>Grey Blue Pixel Tech Computer Presentation</dc:title>
</cp:coreProperties>
</file>